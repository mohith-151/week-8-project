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Urbanist Medium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UrbanistMedium-bold.fntdata"/><Relationship Id="rId21" Type="http://schemas.openxmlformats.org/officeDocument/2006/relationships/font" Target="fonts/UrbanistMedium-regular.fntdata"/><Relationship Id="rId24" Type="http://schemas.openxmlformats.org/officeDocument/2006/relationships/font" Target="fonts/UrbanistMedium-boldItalic.fntdata"/><Relationship Id="rId23" Type="http://schemas.openxmlformats.org/officeDocument/2006/relationships/font" Target="fonts/Urbanist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6e1b6138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e6e1b6138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9" Type="http://schemas.openxmlformats.org/officeDocument/2006/relationships/image" Target="../media/image1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Relationship Id="rId8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820465" y="2524125"/>
            <a:ext cx="855106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</a:t>
            </a:r>
            <a:r>
              <a:rPr b="0" i="0" lang="en-US" sz="6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Churn</a:t>
            </a:r>
            <a:r>
              <a:rPr b="0" i="0" lang="en-US" sz="60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Analysis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024062" y="3648075"/>
            <a:ext cx="81438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Data-Driven Retention Strategy &amp; Predictive Insights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Capstone Project: Real-World Business Analysis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52500" y="243929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Retention Crisis: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Current churn rate of 10.6% indicates a direct threat to annual recurring revenue stability.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952500" y="2963167"/>
            <a:ext cx="10668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Primary Driver: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Contract commitment is the strongest negative correlation (-1.25 impact), with Month-to-Month users at extreme risk.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77279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Early Attrition: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Tenure correlation (-0.51) confirms that customers are leaving within the first 6 months of onboarding.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4296667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Predictive Power: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Implementation of Logistic Regression achieved 95% accuracy, enabling proactive risk intervention.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52500" y="482054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Strategic Mandate: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Migrate high-risk segments to annual plans and optimize digital payment gateways to reduce friction.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43929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296316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77279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29666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82054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Executive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Summary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5524500" y="280511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2520553" y="3033712"/>
            <a:ext cx="7150893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Part I: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</a:t>
            </a: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Problem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2690812" y="3957637"/>
            <a:ext cx="6810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Understanding the context and scope of attrition.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7025" y="189160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1500" y="560635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loss of 53 customers out of 500 signals a critical need for targeted retention strategies.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153275" y="308223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Loyal Base (89.4%)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153275" y="3615630"/>
            <a:ext cx="2171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Churned (10.6%)</a:t>
            </a:r>
            <a:endParaRPr/>
          </a:p>
        </p:txBody>
      </p:sp>
      <p:sp>
        <p:nvSpPr>
          <p:cNvPr id="120" name="Google Shape;120;p16"/>
          <p:cNvSpPr/>
          <p:nvPr/>
        </p:nvSpPr>
        <p:spPr>
          <a:xfrm>
            <a:off x="7153275" y="3082230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7153275" y="3615630"/>
            <a:ext cx="228600" cy="228600"/>
          </a:xfrm>
          <a:prstGeom prst="roundRect">
            <a:avLst>
              <a:gd fmla="val 16666" name="adj"/>
            </a:avLst>
          </a:prstGeom>
          <a:solidFill>
            <a:srgbClr val="1A1A1A"/>
          </a:solidFill>
          <a:ln cap="flat" cmpd="sng" w="9525">
            <a:solidFill>
              <a:srgbClr val="DEFF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Current Churn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Status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5524500" y="280511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3180635" y="3033712"/>
            <a:ext cx="5830728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Part II: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EDA</a:t>
            </a: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Insights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3319462" y="3957637"/>
            <a:ext cx="55530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Identifying patterns and correlations in customer behavior.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86855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571500" y="2988915"/>
            <a:ext cx="56007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Tenure vs. Attrition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571500" y="3184921"/>
            <a:ext cx="533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Correlation Analysis: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-0.51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3651646"/>
            <a:ext cx="533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data reveals a strong negative correlation between tenure and churn. Customers in their first 6 months exhibit the highest flight risk, suggesting that the initial onboarding experience is the primary bottleneck for long-term retention.</a:t>
            </a:r>
            <a:endParaRPr/>
          </a:p>
        </p:txBody>
      </p:sp>
      <p:pic>
        <p:nvPicPr>
          <p:cNvPr id="140" name="Google Shape;140;p18" title="tenure vs churn.png"/>
          <p:cNvPicPr preferRelativeResize="0"/>
          <p:nvPr/>
        </p:nvPicPr>
        <p:blipFill rotWithShape="1">
          <a:blip r:embed="rId5">
            <a:alphaModFix/>
          </a:blip>
          <a:srcRect b="0" l="10760" r="10760" t="0"/>
          <a:stretch/>
        </p:blipFill>
        <p:spPr>
          <a:xfrm>
            <a:off x="5905500" y="1996375"/>
            <a:ext cx="60731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Loyalty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Gap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 title="monthly charges.png"/>
          <p:cNvPicPr preferRelativeResize="0"/>
          <p:nvPr/>
        </p:nvPicPr>
        <p:blipFill rotWithShape="1">
          <a:blip r:embed="rId3">
            <a:alphaModFix/>
          </a:blip>
          <a:srcRect b="0" l="768" r="768" t="0"/>
          <a:stretch/>
        </p:blipFill>
        <p:spPr>
          <a:xfrm>
            <a:off x="5419575" y="1354650"/>
            <a:ext cx="6666924" cy="375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571500" y="2161282"/>
            <a:ext cx="52006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Price</a:t>
            </a: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Trap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571500" y="3086992"/>
            <a:ext cx="4953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Correlation Analysis: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+0.11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571500" y="3553717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Higher Monthly Charges correlate with increased churn density. Analysis shows a "breaking point" where price sensitivity outweighs perceived service value, particularly for non-contracted users.</a:t>
            </a:r>
            <a:endParaRPr/>
          </a:p>
        </p:txBody>
      </p:sp>
      <p:pic>
        <p:nvPicPr>
          <p:cNvPr descr="image.png" id="150" name="Google Shape;1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22479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6835"/>
            <a:ext cx="3492549" cy="3169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06835"/>
            <a:ext cx="3492549" cy="3169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06835"/>
            <a:ext cx="3492549" cy="3169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697360"/>
            <a:ext cx="27114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962025" y="3221235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Contract Type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962025" y="3657451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Month-to-month contracts are the #1 predictor of churn. Migrating to annual plans acts as a "safety net" for retention.</a:t>
            </a:r>
            <a:endParaRPr/>
          </a:p>
        </p:txBody>
      </p:sp>
      <p:pic>
        <p:nvPicPr>
          <p:cNvPr descr="image.png" id="162" name="Google Shape;16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324" y="2697360"/>
            <a:ext cx="27114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0"/>
          <p:cNvSpPr txBox="1"/>
          <p:nvPr/>
        </p:nvSpPr>
        <p:spPr>
          <a:xfrm>
            <a:off x="4740324" y="3221235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Payment Friction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4740324" y="3657451"/>
            <a:ext cx="271149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Electronic Check methods show higher risk (+0.50), likely due to payment failure rates or lack of "set-and-forget" automation.</a:t>
            </a:r>
            <a:endParaRPr/>
          </a:p>
        </p:txBody>
      </p:sp>
      <p:pic>
        <p:nvPicPr>
          <p:cNvPr descr="image.png" id="165" name="Google Shape;16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624" y="2697360"/>
            <a:ext cx="2711499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/>
          <p:cNvSpPr txBox="1"/>
          <p:nvPr/>
        </p:nvSpPr>
        <p:spPr>
          <a:xfrm>
            <a:off x="8518624" y="3221235"/>
            <a:ext cx="2847074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Digital Proxies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8518624" y="3657451"/>
            <a:ext cx="271149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Paperless billing users churn more often, representing a segment that is tech-savvy but less "brand-sticky" than traditional users.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Categorical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Drivers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5524500" y="280511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2095500" y="3033712"/>
            <a:ext cx="8001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Part III: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Advanced</a:t>
            </a: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Analysis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2286000" y="3957637"/>
            <a:ext cx="7620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Quantifying impact through Logistic Regression modeling.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571500" y="2682180"/>
            <a:ext cx="321945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95%</a:t>
            </a:r>
            <a:endParaRPr/>
          </a:p>
        </p:txBody>
      </p:sp>
      <p:sp>
        <p:nvSpPr>
          <p:cNvPr id="183" name="Google Shape;183;p22"/>
          <p:cNvSpPr txBox="1"/>
          <p:nvPr/>
        </p:nvSpPr>
        <p:spPr>
          <a:xfrm>
            <a:off x="571500" y="4739580"/>
            <a:ext cx="32194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ACCURACY SCORE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4552950" y="3365152"/>
            <a:ext cx="7420927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Reliable Prediction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4552950" y="3561159"/>
            <a:ext cx="70675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Our Logistic Regression model successfully predicts churn with 95% accuracy. More importantly, the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0.88 Recall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score means we identify nearly 90% of actual churners before they leave, providing a massive window for intervention.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97210"/>
            <a:ext cx="11049000" cy="478928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3"/>
          <p:cNvSpPr txBox="1"/>
          <p:nvPr/>
        </p:nvSpPr>
        <p:spPr>
          <a:xfrm>
            <a:off x="571500" y="493960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Mathematically, upgrading a contract is the single most effective lever for reducing churn probability.</a:t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Feature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Importance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4"/>
          <p:cNvSpPr/>
          <p:nvPr/>
        </p:nvSpPr>
        <p:spPr>
          <a:xfrm>
            <a:off x="5524500" y="280511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1895475" y="3033712"/>
            <a:ext cx="84010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Part IV: </a:t>
            </a:r>
            <a:r>
              <a:rPr b="0" i="0" lang="en-US" sz="52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</a:t>
            </a:r>
            <a:r>
              <a:rPr b="0" i="0" lang="en-US" sz="52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Roadmap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2095500" y="3957637"/>
            <a:ext cx="8001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Translating data into actionable business results.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2585"/>
            <a:ext cx="5238750" cy="2598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92585"/>
            <a:ext cx="5238750" cy="25983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025" y="2983110"/>
            <a:ext cx="4457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962025" y="350698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1. Contract Migration</a:t>
            </a:r>
            <a:endParaRPr/>
          </a:p>
        </p:txBody>
      </p:sp>
      <p:sp>
        <p:nvSpPr>
          <p:cNvPr id="212" name="Google Shape;212;p25"/>
          <p:cNvSpPr txBox="1"/>
          <p:nvPr/>
        </p:nvSpPr>
        <p:spPr>
          <a:xfrm>
            <a:off x="962025" y="3943201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Launch targeted campaigns to move Month-to-Month users to Annual plans. Offer a one-time "Loyalty Credit" for switching.</a:t>
            </a:r>
            <a:endParaRPr/>
          </a:p>
        </p:txBody>
      </p:sp>
      <p:pic>
        <p:nvPicPr>
          <p:cNvPr descr="image.png" id="213" name="Google Shape;21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72275" y="2983110"/>
            <a:ext cx="44577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6772275" y="3506985"/>
            <a:ext cx="4680585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2. High-Touch Onboarding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6772275" y="3943201"/>
            <a:ext cx="44577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Implement a 90-day "Welcome Sequence" for new customers to combat the high early-stage attrition identified in the Tenure analysis.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Top Strategic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Interventions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6"/>
          <p:cNvSpPr/>
          <p:nvPr/>
        </p:nvSpPr>
        <p:spPr>
          <a:xfrm>
            <a:off x="571500" y="3891706"/>
            <a:ext cx="11049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6"/>
          <p:cNvSpPr txBox="1"/>
          <p:nvPr/>
        </p:nvSpPr>
        <p:spPr>
          <a:xfrm>
            <a:off x="507968" y="3460402"/>
            <a:ext cx="2668302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Days 1-30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571500" y="4132659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CRM Integration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Deploy risk scoring model to flag high-risk customers.</a:t>
            </a:r>
            <a:endParaRPr/>
          </a:p>
        </p:txBody>
      </p:sp>
      <p:sp>
        <p:nvSpPr>
          <p:cNvPr id="225" name="Google Shape;225;p26"/>
          <p:cNvSpPr txBox="1"/>
          <p:nvPr/>
        </p:nvSpPr>
        <p:spPr>
          <a:xfrm>
            <a:off x="3343888" y="3460402"/>
            <a:ext cx="2668302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Days 31-60</a:t>
            </a:r>
            <a:endParaRPr/>
          </a:p>
        </p:txBody>
      </p:sp>
      <p:sp>
        <p:nvSpPr>
          <p:cNvPr id="226" name="Google Shape;226;p26"/>
          <p:cNvSpPr txBox="1"/>
          <p:nvPr/>
        </p:nvSpPr>
        <p:spPr>
          <a:xfrm>
            <a:off x="3407419" y="4132659"/>
            <a:ext cx="2541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Migration Pilot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Launch annual plan promotion for Electronic Check users.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6179808" y="3460402"/>
            <a:ext cx="2668302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Days 61-90</a:t>
            </a:r>
            <a:endParaRPr/>
          </a:p>
        </p:txBody>
      </p:sp>
      <p:sp>
        <p:nvSpPr>
          <p:cNvPr id="228" name="Google Shape;228;p26"/>
          <p:cNvSpPr txBox="1"/>
          <p:nvPr/>
        </p:nvSpPr>
        <p:spPr>
          <a:xfrm>
            <a:off x="6243339" y="4132659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Gateway Audit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Resolve technical friction in payment processing systems.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9015728" y="3460402"/>
            <a:ext cx="2668302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4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Year 1</a:t>
            </a:r>
            <a:endParaRPr/>
          </a:p>
        </p:txBody>
      </p:sp>
      <p:sp>
        <p:nvSpPr>
          <p:cNvPr id="230" name="Google Shape;230;p26"/>
          <p:cNvSpPr txBox="1"/>
          <p:nvPr/>
        </p:nvSpPr>
        <p:spPr>
          <a:xfrm>
            <a:off x="9079259" y="4132659"/>
            <a:ext cx="254124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Scalable Growth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Monitor churn reduction and optimize model features.</a:t>
            </a:r>
            <a:endParaRPr/>
          </a:p>
        </p:txBody>
      </p:sp>
      <p:sp>
        <p:nvSpPr>
          <p:cNvPr id="231" name="Google Shape;231;p26"/>
          <p:cNvSpPr txBox="1"/>
          <p:nvPr/>
        </p:nvSpPr>
        <p:spPr>
          <a:xfrm>
            <a:off x="571500" y="571500"/>
            <a:ext cx="11601450" cy="54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Implementation </a:t>
            </a:r>
            <a:r>
              <a:rPr b="0" i="0" lang="en-US" sz="39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Roadmap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/>
          <p:nvPr/>
        </p:nvSpPr>
        <p:spPr>
          <a:xfrm>
            <a:off x="571500" y="3891706"/>
            <a:ext cx="11049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2382700" y="2382725"/>
            <a:ext cx="75384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THANK </a:t>
            </a:r>
            <a:r>
              <a:rPr lang="en-US" sz="5700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YOU</a:t>
            </a:r>
            <a:endParaRPr sz="3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